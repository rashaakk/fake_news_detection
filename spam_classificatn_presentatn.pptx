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D9D9"/>
    <a:srgbClr val="DB2777"/>
    <a:srgbClr val="7C3AED"/>
    <a:srgbClr val="0D9488"/>
    <a:srgbClr val="0891B2"/>
    <a:srgbClr val="79F3E7"/>
    <a:srgbClr val="1AC8BC"/>
    <a:srgbClr val="28ECD9"/>
    <a:srgbClr val="0BC7F3"/>
    <a:srgbClr val="9A6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Bayes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F1-Score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96</c:v>
                </c:pt>
                <c:pt idx="2">
                  <c:v>96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3-4BAB-B85D-033075D330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F1-Score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98.5</c:v>
                </c:pt>
                <c:pt idx="1">
                  <c:v>98</c:v>
                </c:pt>
                <c:pt idx="2">
                  <c:v>98</c:v>
                </c:pt>
                <c:pt idx="3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23-4BAB-B85D-033075D330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F1-Score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</c:v>
                </c:pt>
                <c:pt idx="1">
                  <c:v>99</c:v>
                </c:pt>
                <c:pt idx="2">
                  <c:v>99.1</c:v>
                </c:pt>
                <c:pt idx="3">
                  <c:v>98.9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23-4BAB-B85D-033075D330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51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FB56-1855-A1E9-C261-44AE2768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68B30-FBC9-3FE8-C533-C0443A2F6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38FAA-0EA3-BA63-6DBB-3D392A874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66115-2B72-6F3D-5711-CA3A1A2DD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26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3843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62651" y="2002536"/>
            <a:ext cx="6573991" cy="492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and Machine Learning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054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E2E8F0"/>
                </a:solidFill>
              </a:rPr>
              <a:t>Team Members : </a:t>
            </a:r>
            <a:r>
              <a:rPr lang="en-US" sz="1300" dirty="0">
                <a:solidFill>
                  <a:srgbClr val="94A3B8"/>
                </a:solidFill>
              </a:rPr>
              <a:t>Indrajith V S • Amrutha •  Sanika J 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731520"/>
            <a:ext cx="2560320" cy="25603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256032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PROBLEM STATEMENT &amp;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3319" y="868680"/>
            <a:ext cx="5166360" cy="19202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9381" y="868680"/>
            <a:ext cx="64008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26760" y="9749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2539" y="1265626"/>
            <a:ext cx="4793030" cy="106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Classify emails as </a:t>
            </a:r>
            <a:r>
              <a:rPr lang="en-US" sz="1300" b="1" dirty="0">
                <a:solidFill>
                  <a:srgbClr val="EF4444"/>
                </a:solidFill>
              </a:rPr>
              <a:t>Spam</a:t>
            </a:r>
            <a:r>
              <a:rPr lang="en-US" sz="1300" dirty="0">
                <a:solidFill>
                  <a:srgbClr val="1E293B"/>
                </a:solidFill>
              </a:rPr>
              <a:t> or </a:t>
            </a:r>
            <a:r>
              <a:rPr lang="en-US" sz="1300" b="1" dirty="0">
                <a:solidFill>
                  <a:srgbClr val="22C55E"/>
                </a:solidFill>
              </a:rPr>
              <a:t>Ham</a:t>
            </a:r>
            <a:r>
              <a:rPr lang="en-US" sz="1300" dirty="0">
                <a:solidFill>
                  <a:srgbClr val="1E293B"/>
                </a:solidFill>
              </a:rPr>
              <a:t> using NLP techniques and ML models. Build a full preprocessing pipeline to clean and prepare raw email text.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378" y="2926080"/>
            <a:ext cx="5166360" cy="16459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9377" y="2926080"/>
            <a:ext cx="64008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57039" y="2971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257" y="3337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Filter unwanted &amp; harmful emails automatically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Protect users from phishing &amp; malicious content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Reduce manual effort in inbox management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30061" y="874736"/>
            <a:ext cx="2926080" cy="3648819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150099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19820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Source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32544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SpamAssassin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Enron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982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3860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Thousands of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labeled emails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19820" y="2468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Spam (1)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50706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Unwanted / junk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982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Ham (0)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8877" y="3017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Legitimate email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19820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80987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Subject, body,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HTML, links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METHODOLOGY &amp;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9714" y="1392798"/>
            <a:ext cx="1325880" cy="1664208"/>
          </a:xfrm>
          <a:prstGeom prst="rect">
            <a:avLst/>
          </a:prstGeom>
          <a:solidFill>
            <a:srgbClr val="1AC8B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6914" y="15025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3722" y="198715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3722" y="235291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SpamAssassin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Enron emails.csv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84738" y="2224902"/>
            <a:ext cx="12801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7034" y="1392798"/>
            <a:ext cx="1325880" cy="1664208"/>
          </a:xfrm>
          <a:prstGeom prst="rect">
            <a:avLst/>
          </a:prstGeom>
          <a:solidFill>
            <a:srgbClr val="93D9D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24234" y="15025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31042" y="198715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31042" y="235291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HTML removal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Lowercase, lemmatize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Stopword removal</a:t>
            </a:r>
          </a:p>
        </p:txBody>
      </p:sp>
      <p:sp>
        <p:nvSpPr>
          <p:cNvPr id="15" name="Shape 13"/>
          <p:cNvSpPr/>
          <p:nvPr/>
        </p:nvSpPr>
        <p:spPr>
          <a:xfrm>
            <a:off x="3102058" y="2224902"/>
            <a:ext cx="12801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4354" y="1392798"/>
            <a:ext cx="1325880" cy="1664208"/>
          </a:xfrm>
          <a:prstGeom prst="rect">
            <a:avLst/>
          </a:prstGeom>
          <a:solidFill>
            <a:srgbClr val="0BC7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41554" y="15025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8362" y="198715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8362" y="235291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Spam vs Ham dist.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Word clouds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Email length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19378" y="2224902"/>
            <a:ext cx="12801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1674" y="1392798"/>
            <a:ext cx="1325880" cy="1664208"/>
          </a:xfrm>
          <a:prstGeom prst="rect">
            <a:avLst/>
          </a:prstGeom>
          <a:solidFill>
            <a:srgbClr val="9A69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58874" y="15025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5682" y="198715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Extraction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5682" y="235291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TF-IDF (NB, SVM)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Word Embeddings (LSTM)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36698" y="2224902"/>
            <a:ext cx="12801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8994" y="1392798"/>
            <a:ext cx="1325880" cy="1664208"/>
          </a:xfrm>
          <a:prstGeom prst="rect">
            <a:avLst/>
          </a:prstGeom>
          <a:solidFill>
            <a:srgbClr val="E874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76194" y="15025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3002" y="198715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3002" y="235291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Naive Bayes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SVM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LSTM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54018" y="2224902"/>
            <a:ext cx="12801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6314" y="1392798"/>
            <a:ext cx="1325880" cy="16642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93514" y="15025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00322" y="198715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00322" y="235291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Confusion Matrix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F1-Score, ROC-AUC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6884" y="3570699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476884" y="357069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Python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48484" y="3570699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1848484" y="357069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NLTK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20084" y="3570699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3220084" y="357069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91684" y="3570699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4591684" y="357069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TensorFlow/Keras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63284" y="3570699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5963284" y="357069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Streamlit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34884" y="3570699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7334884" y="357069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GitHub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KEY RESULTS &amp; MODEL COMPARISON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6712" y="905015"/>
            <a:ext cx="1923873" cy="50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97.0%</a:t>
            </a:r>
            <a:endParaRPr lang="en-US" sz="2800" dirty="0">
              <a:solidFill>
                <a:srgbClr val="0891B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372203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Naive Bayes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Accuracy</a:t>
            </a:r>
          </a:p>
        </p:txBody>
      </p:sp>
      <p:sp>
        <p:nvSpPr>
          <p:cNvPr id="8" name="Text 6"/>
          <p:cNvSpPr/>
          <p:nvPr/>
        </p:nvSpPr>
        <p:spPr>
          <a:xfrm>
            <a:off x="2450592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98.5%</a:t>
            </a:r>
            <a:endParaRPr lang="en-US" sz="2800" dirty="0">
              <a:solidFill>
                <a:srgbClr val="0D9488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450592" y="136615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SVM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Accuracy</a:t>
            </a:r>
          </a:p>
        </p:txBody>
      </p:sp>
      <p:sp>
        <p:nvSpPr>
          <p:cNvPr id="11" name="Text 9"/>
          <p:cNvSpPr/>
          <p:nvPr/>
        </p:nvSpPr>
        <p:spPr>
          <a:xfrm>
            <a:off x="4626864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99.0%</a:t>
            </a:r>
            <a:endParaRPr lang="en-US" sz="2800" dirty="0">
              <a:solidFill>
                <a:srgbClr val="7C3AED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6864" y="1390371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</a:rPr>
              <a:t>LSTM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</a:rPr>
              <a:t>Accuracy</a:t>
            </a:r>
          </a:p>
        </p:txBody>
      </p:sp>
      <p:sp>
        <p:nvSpPr>
          <p:cNvPr id="14" name="Text 12"/>
          <p:cNvSpPr/>
          <p:nvPr/>
        </p:nvSpPr>
        <p:spPr>
          <a:xfrm>
            <a:off x="6803136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B2777"/>
                </a:solidFill>
              </a:rPr>
              <a:t>0.99</a:t>
            </a:r>
            <a:endParaRPr lang="en-US" sz="2800" dirty="0">
              <a:solidFill>
                <a:srgbClr val="DB2777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03136" y="1384315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2777"/>
                </a:solidFill>
              </a:rPr>
              <a:t>LSTM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DB2777"/>
                </a:solidFill>
              </a:rPr>
              <a:t>F1-Score</a:t>
            </a: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973265731"/>
              </p:ext>
            </p:extLst>
          </p:nvPr>
        </p:nvGraphicFramePr>
        <p:xfrm>
          <a:off x="377267" y="1924174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248844"/>
              </p:ext>
            </p:extLst>
          </p:nvPr>
        </p:nvGraphicFramePr>
        <p:xfrm>
          <a:off x="6129632" y="2260262"/>
          <a:ext cx="2700382" cy="1486636"/>
        </p:xfrm>
        <a:graphic>
          <a:graphicData uri="http://schemas.openxmlformats.org/drawingml/2006/table">
            <a:tbl>
              <a:tblPr/>
              <a:tblGrid>
                <a:gridCol w="1195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6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6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Naive Bayes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97.0%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0.96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6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SVM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98.5%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0.98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6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LSTM </a:t>
                      </a:r>
                      <a:endParaRPr lang="en-US" sz="11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99.0%</a:t>
                      </a:r>
                      <a:endParaRPr lang="en-US" sz="11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0.99</a:t>
                      </a:r>
                      <a:endParaRPr lang="en-US" sz="11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025235" y="3789002"/>
            <a:ext cx="2656114" cy="486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25000"/>
                  </a:schemeClr>
                </a:solidFill>
              </a:rPr>
              <a:t>    LSTM selected as final model</a:t>
            </a:r>
            <a:endParaRPr 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23BE8-E8EB-D085-7500-434B94CF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55D09D-7759-F5D3-FA7C-F304391188EF}"/>
              </a:ext>
            </a:extLst>
          </p:cNvPr>
          <p:cNvSpPr/>
          <p:nvPr/>
        </p:nvSpPr>
        <p:spPr>
          <a:xfrm>
            <a:off x="-6056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F59F83-8D31-226E-D432-17AA9390D2D9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STREAMLIT DEPLOYMENT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77DB8BA-BD8D-7013-808D-93928B1CEEAA}"/>
              </a:ext>
            </a:extLst>
          </p:cNvPr>
          <p:cNvSpPr/>
          <p:nvPr/>
        </p:nvSpPr>
        <p:spPr>
          <a:xfrm>
            <a:off x="2547377" y="1348709"/>
            <a:ext cx="1721842" cy="38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App Features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039BF60-A082-DF41-DB10-02DC3F1F99C3}"/>
              </a:ext>
            </a:extLst>
          </p:cNvPr>
          <p:cNvSpPr/>
          <p:nvPr/>
        </p:nvSpPr>
        <p:spPr>
          <a:xfrm>
            <a:off x="2157954" y="1844061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83D53D7-1C35-A737-0502-281D9A919845}"/>
              </a:ext>
            </a:extLst>
          </p:cNvPr>
          <p:cNvSpPr/>
          <p:nvPr/>
        </p:nvSpPr>
        <p:spPr>
          <a:xfrm>
            <a:off x="2538068" y="171465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Paste any email text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13D48AD-C0A1-6ABA-B0F5-CBEA88891687}"/>
              </a:ext>
            </a:extLst>
          </p:cNvPr>
          <p:cNvSpPr/>
          <p:nvPr/>
        </p:nvSpPr>
        <p:spPr>
          <a:xfrm>
            <a:off x="2151896" y="2246637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0BA8C9C-8B5E-9883-655C-B9B87BA6E8AF}"/>
              </a:ext>
            </a:extLst>
          </p:cNvPr>
          <p:cNvSpPr/>
          <p:nvPr/>
        </p:nvSpPr>
        <p:spPr>
          <a:xfrm>
            <a:off x="2519901" y="2126919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One-click classification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E6F8AE1-E270-D089-CF1B-6617BF7A0210}"/>
              </a:ext>
            </a:extLst>
          </p:cNvPr>
          <p:cNvSpPr/>
          <p:nvPr/>
        </p:nvSpPr>
        <p:spPr>
          <a:xfrm>
            <a:off x="2157949" y="2697661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2F5F39B-E9DE-1E2A-018B-80FD937D383C}"/>
              </a:ext>
            </a:extLst>
          </p:cNvPr>
          <p:cNvSpPr/>
          <p:nvPr/>
        </p:nvSpPr>
        <p:spPr>
          <a:xfrm>
            <a:off x="2519901" y="2587933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Confidence % shown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DF7C250-0C94-3C57-3EE0-9EA2FEB898D0}"/>
              </a:ext>
            </a:extLst>
          </p:cNvPr>
          <p:cNvSpPr/>
          <p:nvPr/>
        </p:nvSpPr>
        <p:spPr>
          <a:xfrm>
            <a:off x="2164007" y="3118405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074F97E-EB37-EB29-5734-9219ED1101E2}"/>
              </a:ext>
            </a:extLst>
          </p:cNvPr>
          <p:cNvSpPr/>
          <p:nvPr/>
        </p:nvSpPr>
        <p:spPr>
          <a:xfrm>
            <a:off x="2547377" y="2991357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Spam/Ham probability bar</a:t>
            </a: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DAC2483-7DFC-054B-4466-ADAA3C77D044}"/>
              </a:ext>
            </a:extLst>
          </p:cNvPr>
          <p:cNvSpPr/>
          <p:nvPr/>
        </p:nvSpPr>
        <p:spPr>
          <a:xfrm>
            <a:off x="2157950" y="352704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2678AEE-54E5-380B-A014-337DF9622170}"/>
              </a:ext>
            </a:extLst>
          </p:cNvPr>
          <p:cNvSpPr/>
          <p:nvPr/>
        </p:nvSpPr>
        <p:spPr>
          <a:xfrm>
            <a:off x="2544126" y="3403625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Sample email buttons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022B919-B619-A2D7-7637-C1CCD6589D1B}"/>
              </a:ext>
            </a:extLst>
          </p:cNvPr>
          <p:cNvSpPr/>
          <p:nvPr/>
        </p:nvSpPr>
        <p:spPr>
          <a:xfrm>
            <a:off x="2157951" y="3956325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66E8C89-F178-C9C3-2046-89AB8B9EF1ED}"/>
              </a:ext>
            </a:extLst>
          </p:cNvPr>
          <p:cNvSpPr/>
          <p:nvPr/>
        </p:nvSpPr>
        <p:spPr>
          <a:xfrm>
            <a:off x="2529212" y="3828303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All model results table</a:t>
            </a: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BD3D00F-4DC8-5D69-47CE-D692CF494FCE}"/>
              </a:ext>
            </a:extLst>
          </p:cNvPr>
          <p:cNvSpPr/>
          <p:nvPr/>
        </p:nvSpPr>
        <p:spPr>
          <a:xfrm>
            <a:off x="2164005" y="442303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699AC4B-E1B8-7800-5866-B2F5E6CB6422}"/>
              </a:ext>
            </a:extLst>
          </p:cNvPr>
          <p:cNvSpPr/>
          <p:nvPr/>
        </p:nvSpPr>
        <p:spPr>
          <a:xfrm>
            <a:off x="2519902" y="435926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Built with Naive Bayes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</a:rPr>
              <a:t>+ TF-IDF pipeline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FE0195-5AD5-1598-3E97-07C2A795E38D}"/>
              </a:ext>
            </a:extLst>
          </p:cNvPr>
          <p:cNvSpPr txBox="1"/>
          <p:nvPr/>
        </p:nvSpPr>
        <p:spPr>
          <a:xfrm>
            <a:off x="335480" y="912686"/>
            <a:ext cx="7815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Interactive </a:t>
            </a:r>
            <a:r>
              <a:rPr lang="en-US" sz="1200" dirty="0" err="1">
                <a:solidFill>
                  <a:srgbClr val="1E293B"/>
                </a:solidFill>
              </a:rPr>
              <a:t>Streamlit</a:t>
            </a:r>
            <a:r>
              <a:rPr lang="en-US" sz="1200" dirty="0">
                <a:solidFill>
                  <a:srgbClr val="1E293B"/>
                </a:solidFill>
              </a:rPr>
              <a:t> web app -- paste any email → get Spam/Ham prediction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with confidence score in real time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99131-EA75-EEC6-C233-1FFAF670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498" y="811994"/>
            <a:ext cx="3967303" cy="410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2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056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DEPLOYED APPLICATION</a:t>
            </a:r>
            <a:endParaRPr lang="en-US" sz="14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454D9BE-39E2-BFDF-1604-E8CB9258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556" y="773365"/>
            <a:ext cx="4117825" cy="39841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3A8740D-82D5-EF21-054D-31D69CC14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96" y="787747"/>
            <a:ext cx="3791608" cy="3946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CONCLUSIONS, LIMITATIONS &amp; FUTURE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3544" y="939926"/>
            <a:ext cx="3749040" cy="1692382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7492" y="1078752"/>
            <a:ext cx="30247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   Conclusions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7492" y="1160195"/>
            <a:ext cx="350318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LSTM achieved best accuracy (99%) and F1 (0.99)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SVM excellent trade-off: 98.5% with lower compute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TF-IDF + Naive Bayes is fast, interpretable baseline 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099" y="2949090"/>
            <a:ext cx="3795063" cy="1738693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7492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   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2843" y="3208272"/>
            <a:ext cx="3463397" cy="134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Dataset may not reflect latest spam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LSTM requires more compute and longer training 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Multilingual emails not handled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 real-time retraining on new spam trends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8183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        Future 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54499" y="143560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153038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BERT / Transformers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71207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Use pre-trained transformers for better context understanding</a:t>
            </a:r>
          </a:p>
        </p:txBody>
      </p:sp>
      <p:sp>
        <p:nvSpPr>
          <p:cNvPr id="17" name="Shape 15"/>
          <p:cNvSpPr/>
          <p:nvPr/>
        </p:nvSpPr>
        <p:spPr>
          <a:xfrm>
            <a:off x="4854499" y="202996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150313" y="19672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Real-time Retraining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40929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Auto-update model as new spam patterns emerge</a:t>
            </a:r>
          </a:p>
        </p:txBody>
      </p:sp>
      <p:sp>
        <p:nvSpPr>
          <p:cNvPr id="20" name="Shape 18"/>
          <p:cNvSpPr/>
          <p:nvPr/>
        </p:nvSpPr>
        <p:spPr>
          <a:xfrm>
            <a:off x="4854499" y="262432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159095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Multilingual Support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59096" y="2816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Extend to emails in other languages</a:t>
            </a:r>
          </a:p>
        </p:txBody>
      </p:sp>
      <p:sp>
        <p:nvSpPr>
          <p:cNvPr id="23" name="Shape 21"/>
          <p:cNvSpPr/>
          <p:nvPr/>
        </p:nvSpPr>
        <p:spPr>
          <a:xfrm>
            <a:off x="4854499" y="321868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15304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Email Header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77259" y="3410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Include sender reputation, IP, domain trust signals</a:t>
            </a:r>
          </a:p>
        </p:txBody>
      </p:sp>
      <p:sp>
        <p:nvSpPr>
          <p:cNvPr id="29" name="Shape 27"/>
          <p:cNvSpPr/>
          <p:nvPr/>
        </p:nvSpPr>
        <p:spPr>
          <a:xfrm>
            <a:off x="4870550" y="3835815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177263" y="375055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Feedback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2425" y="3999739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Let users mark misclassified emails to improve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398</Words>
  <Application>Microsoft Office PowerPoint</Application>
  <PresentationFormat>On-screen Show (16:9)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 Classification Using NLP and Machine Learning</dc:title>
  <dc:subject>PptxGenJS Presentation</dc:subject>
  <dc:creator>PptxGenJS</dc:creator>
  <cp:lastModifiedBy>Amrutha .</cp:lastModifiedBy>
  <cp:revision>2</cp:revision>
  <dcterms:created xsi:type="dcterms:W3CDTF">2026-05-16T04:48:38Z</dcterms:created>
  <dcterms:modified xsi:type="dcterms:W3CDTF">2026-05-16T06:52:41Z</dcterms:modified>
</cp:coreProperties>
</file>