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4855"/>
    <a:srgbClr val="394461"/>
    <a:srgbClr val="243050"/>
    <a:srgbClr val="3B82F6"/>
    <a:srgbClr val="3BCEAC"/>
    <a:srgbClr val="E06C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IN" sz="1200" b="0" i="0" u="none" strike="noStrike">
                <a:solidFill>
                  <a:srgbClr val="000000"/>
                </a:solidFill>
                <a:latin typeface="Arial"/>
              </a:rPr>
              <a:t>F1 Score by Model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 Score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3B82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F27C-4539-8814-05DABEC286FC}"/>
              </c:ext>
            </c:extLst>
          </c:dPt>
          <c:dPt>
            <c:idx val="1"/>
            <c:invertIfNegative val="0"/>
            <c:bubble3D val="0"/>
            <c:spPr>
              <a:solidFill>
                <a:srgbClr val="3B82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27C-4539-8814-05DABEC286FC}"/>
              </c:ext>
            </c:extLst>
          </c:dPt>
          <c:dPt>
            <c:idx val="2"/>
            <c:invertIfNegative val="0"/>
            <c:bubble3D val="0"/>
            <c:spPr>
              <a:solidFill>
                <a:srgbClr val="3B82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27C-4539-8814-05DABEC286FC}"/>
              </c:ext>
            </c:extLst>
          </c:dPt>
          <c:dPt>
            <c:idx val="3"/>
            <c:invertIfNegative val="0"/>
            <c:bubble3D val="0"/>
            <c:spPr>
              <a:solidFill>
                <a:srgbClr val="3B82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F27C-4539-8814-05DABEC286FC}"/>
              </c:ext>
            </c:extLst>
          </c:dPt>
          <c:dPt>
            <c:idx val="4"/>
            <c:invertIfNegative val="0"/>
            <c:bubble3D val="0"/>
            <c:spPr>
              <a:solidFill>
                <a:srgbClr val="3BCEA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F27C-4539-8814-05DABEC286FC}"/>
              </c:ext>
            </c:extLst>
          </c:dPt>
          <c:dPt>
            <c:idx val="5"/>
            <c:invertIfNegative val="0"/>
            <c:bubble3D val="0"/>
            <c:spPr>
              <a:solidFill>
                <a:srgbClr val="E8485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F27C-4539-8814-05DABEC286FC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LR</c:v>
                </c:pt>
                <c:pt idx="1">
                  <c:v>LR Tuned</c:v>
                </c:pt>
                <c:pt idx="2">
                  <c:v>GB</c:v>
                </c:pt>
                <c:pt idx="3">
                  <c:v>GB Tuned</c:v>
                </c:pt>
                <c:pt idx="4">
                  <c:v>BERT+LR</c:v>
                </c:pt>
                <c:pt idx="5">
                  <c:v>DistilBERT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0.6</c:v>
                </c:pt>
                <c:pt idx="1">
                  <c:v>0.61</c:v>
                </c:pt>
                <c:pt idx="2">
                  <c:v>0.53</c:v>
                </c:pt>
                <c:pt idx="3">
                  <c:v>0.56000000000000005</c:v>
                </c:pt>
                <c:pt idx="4">
                  <c:v>0.66</c:v>
                </c:pt>
                <c:pt idx="5">
                  <c:v>0.72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F27C-4539-8814-05DABEC286F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8"/>
          <c:min val="0.4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4F6F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Precision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Fake (0)</c:v>
                </c:pt>
                <c:pt idx="1">
                  <c:v>Real (1)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0.54</c:v>
                </c:pt>
                <c:pt idx="1">
                  <c:v>0.65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0EE-47B8-9590-1ACF7BB247D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3BCEA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Fake (0)</c:v>
                </c:pt>
                <c:pt idx="1">
                  <c:v>Real (1)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0.56999999999999995</c:v>
                </c:pt>
                <c:pt idx="1">
                  <c:v>0.63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0EE-47B8-9590-1ACF7BB247D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F1</c:v>
                </c:pt>
              </c:strCache>
            </c:strRef>
          </c:tx>
          <c:spPr>
            <a:solidFill>
              <a:srgbClr val="E8485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Fake (0)</c:v>
                </c:pt>
                <c:pt idx="1">
                  <c:v>Real (1)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0.55000000000000004</c:v>
                </c:pt>
                <c:pt idx="1">
                  <c:v>0.64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0EE-47B8-9590-1ACF7BB247D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Precision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Fake (0)</c:v>
                </c:pt>
                <c:pt idx="1">
                  <c:v>Real (1)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0.59</c:v>
                </c:pt>
                <c:pt idx="1">
                  <c:v>0.59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CDC-4911-A3E2-4F9E7450B1B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3BCEA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Fake (0)</c:v>
                </c:pt>
                <c:pt idx="1">
                  <c:v>Real (1)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0.21</c:v>
                </c:pt>
                <c:pt idx="1">
                  <c:v>0.89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CDC-4911-A3E2-4F9E7450B1B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F1</c:v>
                </c:pt>
              </c:strCache>
            </c:strRef>
          </c:tx>
          <c:spPr>
            <a:solidFill>
              <a:srgbClr val="E8A83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Fake (0)</c:v>
                </c:pt>
                <c:pt idx="1">
                  <c:v>Real (1)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0.31</c:v>
                </c:pt>
                <c:pt idx="1">
                  <c:v>0.71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CDC-4911-A3E2-4F9E7450B1B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IN" sz="1200" b="0" i="0" u="none" strike="noStrike">
                <a:solidFill>
                  <a:srgbClr val="000000"/>
                </a:solidFill>
                <a:latin typeface="Arial"/>
              </a:rPr>
              <a:t>Metric Comparison by Model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Logistic Regression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delete val="1"/>
          </c:dLbls>
          <c:cat>
            <c:strRef>
              <c:f>Sheet1!$A$2:$A$4</c:f>
              <c:strCache>
                <c:ptCount val="3"/>
                <c:pt idx="0">
                  <c:v>Accuracy</c:v>
                </c:pt>
                <c:pt idx="1">
                  <c:v>F1</c:v>
                </c:pt>
                <c:pt idx="2">
                  <c:v>ROC-AUC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0.6</c:v>
                </c:pt>
                <c:pt idx="1">
                  <c:v>0.6</c:v>
                </c:pt>
                <c:pt idx="2">
                  <c:v>0.63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59C-4F8E-B386-65E1B41C418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Gradient Boosting</c:v>
                </c:pt>
              </c:strCache>
            </c:strRef>
          </c:tx>
          <c:spPr>
            <a:solidFill>
              <a:srgbClr val="E8A838"/>
            </a:solidFill>
            <a:effectLst/>
          </c:spPr>
          <c:invertIfNegative val="0"/>
          <c:dLbls>
            <c:delete val="1"/>
          </c:dLbls>
          <c:cat>
            <c:strRef>
              <c:f>Sheet1!$A$2:$A$4</c:f>
              <c:strCache>
                <c:ptCount val="3"/>
                <c:pt idx="0">
                  <c:v>Accuracy</c:v>
                </c:pt>
                <c:pt idx="1">
                  <c:v>F1</c:v>
                </c:pt>
                <c:pt idx="2">
                  <c:v>ROC-AUC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0.59</c:v>
                </c:pt>
                <c:pt idx="1">
                  <c:v>0.53</c:v>
                </c:pt>
                <c:pt idx="2">
                  <c:v>0.61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59C-4F8E-B386-65E1B41C418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DistilBERT</c:v>
                </c:pt>
              </c:strCache>
            </c:strRef>
          </c:tx>
          <c:spPr>
            <a:solidFill>
              <a:srgbClr val="E84855"/>
            </a:solidFill>
            <a:effectLst/>
          </c:spPr>
          <c:invertIfNegative val="0"/>
          <c:dLbls>
            <c:delete val="1"/>
          </c:dLbls>
          <c:cat>
            <c:strRef>
              <c:f>Sheet1!$A$2:$A$4</c:f>
              <c:strCache>
                <c:ptCount val="3"/>
                <c:pt idx="0">
                  <c:v>Accuracy</c:v>
                </c:pt>
                <c:pt idx="1">
                  <c:v>F1</c:v>
                </c:pt>
                <c:pt idx="2">
                  <c:v>ROC-AUC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0.72</c:v>
                </c:pt>
                <c:pt idx="1">
                  <c:v>0.72</c:v>
                </c:pt>
                <c:pt idx="2">
                  <c:v>0.76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59C-4F8E-B386-65E1B41C418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85"/>
          <c:min val="0.4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4F6F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9884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8976" y="9144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News Detection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02920" y="1691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NLP Classifiers</a:t>
            </a:r>
            <a:endParaRPr lang="en-US" sz="2800" dirty="0">
              <a:solidFill>
                <a:srgbClr val="E84855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502920" y="246888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fake vs. real news using LIAR Dataset,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Linguistic Features, TF-IDF, and DistilBERT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79524" y="34061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: Athulya Mannambath  ·  Amrutha  ·  Rasha KK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Dataset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27432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2412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375536"/>
            <a:ext cx="3749040" cy="255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Misinformation spreads rapidly across digital platforms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fact-checking is too slow to scale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for automated, accurate fake news detection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whether linguistic patterns alone can distinguish fake vs real news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classical ML against transformer models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727932" y="1151115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CE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LIAR Dataset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715820" y="1683163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Label Mapping</a:t>
            </a:r>
            <a:endParaRPr lang="en-US" sz="12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7349476"/>
              </p:ext>
            </p:extLst>
          </p:nvPr>
        </p:nvGraphicFramePr>
        <p:xfrm>
          <a:off x="4670100" y="1984915"/>
          <a:ext cx="3931920" cy="822960"/>
        </p:xfrm>
        <a:graphic>
          <a:graphicData uri="http://schemas.openxmlformats.org/drawingml/2006/table">
            <a:tbl>
              <a:tblPr/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Class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Original Labels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Fake (0)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pants-fire, false, barely-true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Real (1)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half-true, mostly-true, true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0" name="Text 17"/>
          <p:cNvSpPr/>
          <p:nvPr/>
        </p:nvSpPr>
        <p:spPr>
          <a:xfrm>
            <a:off x="4715820" y="2935891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 statement, speaker, subject, party, context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715820" y="3255931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PolitiFact fact-checked political statements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&amp; Pipeline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783080" y="1371600"/>
            <a:ext cx="228600" cy="548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14396"/>
            <a:ext cx="1554480" cy="3415379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14400"/>
            <a:ext cx="1554480" cy="109728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097280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>
              <a:solidFill>
                <a:srgbClr val="E84855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347472" y="1719072"/>
            <a:ext cx="140817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&amp; Preprocessing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65760" y="2377440"/>
            <a:ext cx="1371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LIAR TSV splits.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label mapping.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Lowercasing, URL &amp; punctuation removal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Contraction expansion, stopword removal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520440" y="1371600"/>
            <a:ext cx="228600" cy="548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11680" y="914400"/>
            <a:ext cx="1554480" cy="3415375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3" name="Shape 11"/>
          <p:cNvSpPr/>
          <p:nvPr/>
        </p:nvSpPr>
        <p:spPr>
          <a:xfrm>
            <a:off x="2011680" y="914400"/>
            <a:ext cx="1554480" cy="109728"/>
          </a:xfrm>
          <a:prstGeom prst="rect">
            <a:avLst/>
          </a:prstGeom>
          <a:solidFill>
            <a:srgbClr val="E06C3B"/>
          </a:solidFill>
          <a:ln w="12700">
            <a:solidFill>
              <a:srgbClr val="E06C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14600" y="1097280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06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>
              <a:solidFill>
                <a:srgbClr val="E06C3B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2084832" y="1719072"/>
            <a:ext cx="140817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103120" y="2377440"/>
            <a:ext cx="1371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linguistic features: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readability, punctuation ratio, capital ratio,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exclamation/question count, word/char count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word  + char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257800" y="1371600"/>
            <a:ext cx="228600" cy="548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49040" y="914400"/>
            <a:ext cx="1554480" cy="3415375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749040" y="914400"/>
            <a:ext cx="1554480" cy="10972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51960" y="1097280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>
              <a:solidFill>
                <a:schemeClr val="accent4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3822192" y="1719072"/>
            <a:ext cx="140817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ML Models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840480" y="2377440"/>
            <a:ext cx="1371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+ </a:t>
            </a:r>
            <a:r>
              <a:rPr lang="en-US" sz="9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</a:t>
            </a: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+ </a:t>
            </a:r>
            <a:r>
              <a:rPr lang="en-US" sz="9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RandomizedSearchCV</a:t>
            </a: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TF-IDF + linguistic matrix.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&amp; SHAP analysis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995160" y="1371600"/>
            <a:ext cx="228600" cy="548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0" y="914400"/>
            <a:ext cx="1554480" cy="3415375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486400" y="914400"/>
            <a:ext cx="1554480" cy="109728"/>
          </a:xfrm>
          <a:prstGeom prst="rect">
            <a:avLst/>
          </a:prstGeom>
          <a:solidFill>
            <a:srgbClr val="3BCEAC"/>
          </a:solidFill>
          <a:ln w="12700">
            <a:solidFill>
              <a:srgbClr val="3BCEA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89320" y="1097280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BCE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>
              <a:solidFill>
                <a:srgbClr val="3BCEAC"/>
              </a:solidFill>
            </a:endParaRPr>
          </a:p>
        </p:txBody>
      </p:sp>
      <p:sp>
        <p:nvSpPr>
          <p:cNvPr id="30" name="Text 28"/>
          <p:cNvSpPr/>
          <p:nvPr/>
        </p:nvSpPr>
        <p:spPr>
          <a:xfrm>
            <a:off x="5559552" y="1719072"/>
            <a:ext cx="140817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Models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577840" y="2377440"/>
            <a:ext cx="1371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 fine-tuning (3 epochs)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embeddings + LR classifier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weight visualisation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AdamW + linear warmup scheduler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223760" y="914400"/>
            <a:ext cx="1554480" cy="3415375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223760" y="914400"/>
            <a:ext cx="1554480" cy="10972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26680" y="1097280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>
              <a:solidFill>
                <a:srgbClr val="3B82F6"/>
              </a:solidFill>
            </a:endParaRPr>
          </a:p>
        </p:txBody>
      </p:sp>
      <p:sp>
        <p:nvSpPr>
          <p:cNvPr id="36" name="Text 34"/>
          <p:cNvSpPr/>
          <p:nvPr/>
        </p:nvSpPr>
        <p:spPr>
          <a:xfrm>
            <a:off x="7296912" y="1719072"/>
            <a:ext cx="140817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&amp; Evaluation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7315200" y="2377440"/>
            <a:ext cx="1371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F1, ROC-AUC metrics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analysis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Cross-domain generalisation test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 compared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1816" y="204376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Results &amp; Model Comparison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27432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4320424"/>
              </p:ext>
            </p:extLst>
          </p:nvPr>
        </p:nvGraphicFramePr>
        <p:xfrm>
          <a:off x="692770" y="962953"/>
          <a:ext cx="3746009" cy="3467028"/>
        </p:xfrm>
        <a:graphic>
          <a:graphicData uri="http://schemas.openxmlformats.org/drawingml/2006/table">
            <a:tbl>
              <a:tblPr/>
              <a:tblGrid>
                <a:gridCol w="10348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25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2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59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9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Score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497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35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 (Tuned)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497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35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 (Tuned)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35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BERT Embeddings + LR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497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DistilBERT (Fine-tuned)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E848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E848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E848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2657965902"/>
              </p:ext>
            </p:extLst>
          </p:nvPr>
        </p:nvGraphicFramePr>
        <p:xfrm>
          <a:off x="4971061" y="968784"/>
          <a:ext cx="3571005" cy="32128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2"/>
          <p:cNvSpPr/>
          <p:nvPr/>
        </p:nvSpPr>
        <p:spPr>
          <a:xfrm>
            <a:off x="517155" y="4482077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 outperforms all classical models  ·  Gradient Boosting recall skewed toward Real class  ·  BERT embeddings competitive without fine-tuning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5046" y="228600"/>
            <a:ext cx="800677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ML 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26320" y="749807"/>
            <a:ext cx="8303472" cy="45719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76432" y="1078992"/>
            <a:ext cx="3849623" cy="33147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03" y="1218557"/>
            <a:ext cx="3467795" cy="206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500" dirty="0"/>
          </a:p>
        </p:txBody>
      </p:sp>
      <p:graphicFrame>
        <p:nvGraphicFramePr>
          <p:cNvPr id="7" name="Chart 0"/>
          <p:cNvGraphicFramePr/>
          <p:nvPr>
            <p:extLst>
              <p:ext uri="{D42A27DB-BD31-4B8C-83A1-F6EECF244321}">
                <p14:modId xmlns:p14="http://schemas.microsoft.com/office/powerpoint/2010/main" val="2860677320"/>
              </p:ext>
            </p:extLst>
          </p:nvPr>
        </p:nvGraphicFramePr>
        <p:xfrm>
          <a:off x="710587" y="1708171"/>
          <a:ext cx="3552579" cy="20901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777203" y="3958116"/>
            <a:ext cx="3467795" cy="1898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Accuracy: 0.60  |  Macro F1: 0.60  |  Weighted F1: 0.61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17946" y="1094628"/>
            <a:ext cx="3923133" cy="329906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881752" y="1168787"/>
            <a:ext cx="3661591" cy="313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1500" dirty="0"/>
          </a:p>
        </p:txBody>
      </p:sp>
      <p:graphicFrame>
        <p:nvGraphicFramePr>
          <p:cNvPr id="12" name="Chart 1"/>
          <p:cNvGraphicFramePr/>
          <p:nvPr>
            <p:extLst>
              <p:ext uri="{D42A27DB-BD31-4B8C-83A1-F6EECF244321}">
                <p14:modId xmlns:p14="http://schemas.microsoft.com/office/powerpoint/2010/main" val="1651788853"/>
              </p:ext>
            </p:extLst>
          </p:nvPr>
        </p:nvGraphicFramePr>
        <p:xfrm>
          <a:off x="4862668" y="1757193"/>
          <a:ext cx="3649152" cy="20411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3" name="Text 9"/>
          <p:cNvSpPr/>
          <p:nvPr/>
        </p:nvSpPr>
        <p:spPr>
          <a:xfrm>
            <a:off x="4905060" y="3953867"/>
            <a:ext cx="3608003" cy="242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Accuracy: 0.59  |  Macro F1: 0.51  |  Recall skewed to Real class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Models — Results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27432"/>
          </a:xfrm>
          <a:prstGeom prst="rect">
            <a:avLst/>
          </a:prstGeom>
          <a:solidFill>
            <a:srgbClr val="3BCEAC"/>
          </a:solidFill>
          <a:ln w="12700">
            <a:solidFill>
              <a:srgbClr val="3BCEA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68707" y="86989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92929" y="1397755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3200400" y="857777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BCE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200400" y="140381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5871535" y="851721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0.76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5865479" y="1434091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aphicFrame>
        <p:nvGraphicFramePr>
          <p:cNvPr id="16" name="Chart 0"/>
          <p:cNvGraphicFramePr/>
          <p:nvPr>
            <p:extLst>
              <p:ext uri="{D42A27DB-BD31-4B8C-83A1-F6EECF244321}">
                <p14:modId xmlns:p14="http://schemas.microsoft.com/office/powerpoint/2010/main" val="1198143506"/>
              </p:ext>
            </p:extLst>
          </p:nvPr>
        </p:nvGraphicFramePr>
        <p:xfrm>
          <a:off x="371816" y="1998169"/>
          <a:ext cx="4657384" cy="25977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8" name="Text 15"/>
          <p:cNvSpPr/>
          <p:nvPr/>
        </p:nvSpPr>
        <p:spPr>
          <a:xfrm>
            <a:off x="5669280" y="214647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409190" y="2370717"/>
            <a:ext cx="3337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 achieves best results across all metrics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embeddings + LR competitive without fine-tuning overhead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recall heavily skewed toward Real 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most balanced on Fake class 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models better capture semantic &amp; contextual patterns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394461">
            <a:alpha val="9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Application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725584"/>
            <a:ext cx="8229600" cy="27432"/>
          </a:xfrm>
          <a:prstGeom prst="rect">
            <a:avLst/>
          </a:prstGeom>
          <a:solidFill>
            <a:srgbClr val="3BCEAC"/>
          </a:solidFill>
          <a:ln w="12700">
            <a:solidFill>
              <a:srgbClr val="3BCEAC"/>
            </a:solidFill>
            <a:prstDash val="solid"/>
          </a:ln>
        </p:spPr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D872489-5D68-5432-979D-FF418B5CBF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199" y="874888"/>
            <a:ext cx="8077906" cy="408485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27432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80453" y="1069993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Conclusions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4511" y="1343877"/>
            <a:ext cx="2719686" cy="28881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 achieved best performance (F1: 0.72, AUC: 0.76)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Linguistic features show moderate discriminative power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news uses simpler language, more exclamation marks, higher capital ratio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models better capture contextual semantics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embeddings + LR is a strong lightweight alternative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559116" y="1064042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Future Work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35746" y="1246922"/>
            <a:ext cx="2719685" cy="28881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RoBERTa or DeBERTa for further improvement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 metadata (speaker, party) into model features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Multi-class (6-label) classification instead of binary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browser extension for live news fact-checking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on FakeNewsNet for broader cross-domain evaluation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505</Words>
  <Application>Microsoft Office PowerPoint</Application>
  <PresentationFormat>On-screen Show (16:9)</PresentationFormat>
  <Paragraphs>125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Fake News Detection Using NLP Classifiers</dc:title>
  <dc:subject>PptxGenJS Presentation</dc:subject>
  <dc:creator>PptxGenJS</dc:creator>
  <cp:lastModifiedBy>Amrutha .</cp:lastModifiedBy>
  <cp:revision>2</cp:revision>
  <dcterms:created xsi:type="dcterms:W3CDTF">2026-05-16T05:21:07Z</dcterms:created>
  <dcterms:modified xsi:type="dcterms:W3CDTF">2026-05-16T07:05:25Z</dcterms:modified>
</cp:coreProperties>
</file>